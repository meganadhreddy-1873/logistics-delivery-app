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jpe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9.jpeg" Type="http://schemas.openxmlformats.org/officeDocument/2006/relationships/image"/><Relationship Id="rId5" Target="../media/image10.png" Type="http://schemas.openxmlformats.org/officeDocument/2006/relationships/image"/><Relationship Id="rId6" Target="../media/image11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2.png" Type="http://schemas.openxmlformats.org/officeDocument/2006/relationships/image"/><Relationship Id="rId5" Target="../media/image3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Relationship Id="rId6" Target="../media/image10.png" Type="http://schemas.openxmlformats.org/officeDocument/2006/relationships/image"/><Relationship Id="rId7" Target="../media/image11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17.jpeg" Type="http://schemas.openxmlformats.org/officeDocument/2006/relationships/image"/><Relationship Id="rId5" Target="../media/image18.jpeg" Type="http://schemas.openxmlformats.org/officeDocument/2006/relationships/image"/><Relationship Id="rId6" Target="../media/image19.jpeg" Type="http://schemas.openxmlformats.org/officeDocument/2006/relationships/image"/><Relationship Id="rId7" Target="../media/image10.png" Type="http://schemas.openxmlformats.org/officeDocument/2006/relationships/image"/><Relationship Id="rId8" Target="../media/image11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20.jpeg" Type="http://schemas.openxmlformats.org/officeDocument/2006/relationships/image"/><Relationship Id="rId5" Target="../media/image21.jpeg" Type="http://schemas.openxmlformats.org/officeDocument/2006/relationships/image"/><Relationship Id="rId6" Target="../media/image10.png" Type="http://schemas.openxmlformats.org/officeDocument/2006/relationships/image"/><Relationship Id="rId7" Target="../media/image11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23.png" Type="http://schemas.openxmlformats.org/officeDocument/2006/relationships/image"/><Relationship Id="rId6" Target="../media/image24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591396" y="-415522"/>
            <a:ext cx="12279836" cy="12279836"/>
          </a:xfrm>
          <a:custGeom>
            <a:avLst/>
            <a:gdLst/>
            <a:ahLst/>
            <a:cxnLst/>
            <a:rect r="r" b="b" t="t" l="l"/>
            <a:pathLst>
              <a:path h="12279836" w="12279836">
                <a:moveTo>
                  <a:pt x="0" y="0"/>
                </a:moveTo>
                <a:lnTo>
                  <a:pt x="12279836" y="0"/>
                </a:lnTo>
                <a:lnTo>
                  <a:pt x="12279836" y="12279837"/>
                </a:lnTo>
                <a:lnTo>
                  <a:pt x="0" y="1227983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753223" y="-185210"/>
            <a:ext cx="12603491" cy="12328506"/>
          </a:xfrm>
          <a:custGeom>
            <a:avLst/>
            <a:gdLst/>
            <a:ahLst/>
            <a:cxnLst/>
            <a:rect r="r" b="b" t="t" l="l"/>
            <a:pathLst>
              <a:path h="12328506" w="12603491">
                <a:moveTo>
                  <a:pt x="0" y="0"/>
                </a:moveTo>
                <a:lnTo>
                  <a:pt x="12603491" y="0"/>
                </a:lnTo>
                <a:lnTo>
                  <a:pt x="12603491" y="12328506"/>
                </a:lnTo>
                <a:lnTo>
                  <a:pt x="0" y="1232850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-2591396" y="312331"/>
            <a:ext cx="11551983" cy="11551983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7"/>
              <a:stretch>
                <a:fillRect l="-45862" t="0" r="-4231" b="0"/>
              </a:stretch>
            </a:blipFill>
            <a:ln cap="sq">
              <a:noFill/>
              <a:prstDash val="solid"/>
              <a:miter/>
            </a:ln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16577411" y="8576411"/>
            <a:ext cx="681889" cy="681889"/>
          </a:xfrm>
          <a:custGeom>
            <a:avLst/>
            <a:gdLst/>
            <a:ahLst/>
            <a:cxnLst/>
            <a:rect r="r" b="b" t="t" l="l"/>
            <a:pathLst>
              <a:path h="681889" w="681889">
                <a:moveTo>
                  <a:pt x="0" y="0"/>
                </a:moveTo>
                <a:lnTo>
                  <a:pt x="681889" y="0"/>
                </a:lnTo>
                <a:lnTo>
                  <a:pt x="681889" y="681889"/>
                </a:lnTo>
                <a:lnTo>
                  <a:pt x="0" y="68188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8079533" y="1244238"/>
            <a:ext cx="9997114" cy="816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6627"/>
              </a:lnSpc>
              <a:spcBef>
                <a:spcPct val="0"/>
              </a:spcBef>
            </a:pPr>
            <a:r>
              <a:rPr lang="en-US" b="true" sz="4733">
                <a:solidFill>
                  <a:srgbClr val="27577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LOGISTICS AND DELIVERY APP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369846" y="4052759"/>
            <a:ext cx="5867281" cy="20355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03"/>
              </a:lnSpc>
            </a:pPr>
            <a:r>
              <a:rPr lang="en-US" b="true" sz="3859">
                <a:solidFill>
                  <a:srgbClr val="27577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PRESENTED BY:</a:t>
            </a:r>
          </a:p>
          <a:p>
            <a:pPr algn="ctr">
              <a:lnSpc>
                <a:spcPts val="5403"/>
              </a:lnSpc>
            </a:pPr>
            <a:r>
              <a:rPr lang="en-US" sz="3859">
                <a:solidFill>
                  <a:srgbClr val="27577D"/>
                </a:solidFill>
                <a:latin typeface="Montserrat"/>
                <a:ea typeface="Montserrat"/>
                <a:cs typeface="Montserrat"/>
                <a:sym typeface="Montserrat"/>
              </a:rPr>
              <a:t>B.MEGHANADH REDDY</a:t>
            </a:r>
          </a:p>
          <a:p>
            <a:pPr algn="ctr">
              <a:lnSpc>
                <a:spcPts val="5403"/>
              </a:lnSpc>
              <a:spcBef>
                <a:spcPct val="0"/>
              </a:spcBef>
            </a:pPr>
            <a:r>
              <a:rPr lang="en-US" sz="3859">
                <a:solidFill>
                  <a:srgbClr val="27577D"/>
                </a:solidFill>
                <a:latin typeface="Montserrat"/>
                <a:ea typeface="Montserrat"/>
                <a:cs typeface="Montserrat"/>
                <a:sym typeface="Montserrat"/>
              </a:rPr>
              <a:t>R.KOUSHIK SRIRAM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694352" y="-1694352"/>
            <a:ext cx="3980781" cy="3980781"/>
            <a:chOff x="0" y="0"/>
            <a:chExt cx="5307708" cy="530770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307708" cy="5307708"/>
            </a:xfrm>
            <a:custGeom>
              <a:avLst/>
              <a:gdLst/>
              <a:ahLst/>
              <a:cxnLst/>
              <a:rect r="r" b="b" t="t" l="l"/>
              <a:pathLst>
                <a:path h="5307708" w="5307708">
                  <a:moveTo>
                    <a:pt x="0" y="0"/>
                  </a:moveTo>
                  <a:lnTo>
                    <a:pt x="5307708" y="0"/>
                  </a:lnTo>
                  <a:lnTo>
                    <a:pt x="5307708" y="5307708"/>
                  </a:lnTo>
                  <a:lnTo>
                    <a:pt x="0" y="53077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4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4" id="4"/>
            <p:cNvGrpSpPr/>
            <p:nvPr/>
          </p:nvGrpSpPr>
          <p:grpSpPr>
            <a:xfrm rot="0">
              <a:off x="757795" y="757795"/>
              <a:ext cx="3792117" cy="3792117"/>
              <a:chOff x="0" y="0"/>
              <a:chExt cx="812800" cy="81280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5E13"/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586"/>
                  </a:lnSpc>
                </a:pPr>
              </a:p>
            </p:txBody>
          </p:sp>
        </p:grpSp>
      </p:grpSp>
      <p:grpSp>
        <p:nvGrpSpPr>
          <p:cNvPr name="Group 7" id="7"/>
          <p:cNvGrpSpPr/>
          <p:nvPr/>
        </p:nvGrpSpPr>
        <p:grpSpPr>
          <a:xfrm rot="0">
            <a:off x="14313992" y="-176204"/>
            <a:ext cx="3974008" cy="10639407"/>
            <a:chOff x="0" y="0"/>
            <a:chExt cx="1046652" cy="280214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46652" cy="2802148"/>
            </a:xfrm>
            <a:custGeom>
              <a:avLst/>
              <a:gdLst/>
              <a:ahLst/>
              <a:cxnLst/>
              <a:rect r="r" b="b" t="t" l="l"/>
              <a:pathLst>
                <a:path h="2802148" w="1046652">
                  <a:moveTo>
                    <a:pt x="0" y="0"/>
                  </a:moveTo>
                  <a:lnTo>
                    <a:pt x="1046652" y="0"/>
                  </a:lnTo>
                  <a:lnTo>
                    <a:pt x="1046652" y="2802148"/>
                  </a:lnTo>
                  <a:lnTo>
                    <a:pt x="0" y="2802148"/>
                  </a:lnTo>
                  <a:close/>
                </a:path>
              </a:pathLst>
            </a:custGeom>
            <a:solidFill>
              <a:srgbClr val="FF5E13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1046652" cy="28497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86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144000" y="1028700"/>
            <a:ext cx="8115300" cy="8229600"/>
            <a:chOff x="0" y="0"/>
            <a:chExt cx="1257272" cy="127498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57272" cy="1274980"/>
            </a:xfrm>
            <a:custGeom>
              <a:avLst/>
              <a:gdLst/>
              <a:ahLst/>
              <a:cxnLst/>
              <a:rect r="r" b="b" t="t" l="l"/>
              <a:pathLst>
                <a:path h="1274980" w="1257272">
                  <a:moveTo>
                    <a:pt x="0" y="0"/>
                  </a:moveTo>
                  <a:lnTo>
                    <a:pt x="1257272" y="0"/>
                  </a:lnTo>
                  <a:lnTo>
                    <a:pt x="1257272" y="1274980"/>
                  </a:lnTo>
                  <a:lnTo>
                    <a:pt x="0" y="1274980"/>
                  </a:lnTo>
                  <a:close/>
                </a:path>
              </a:pathLst>
            </a:custGeom>
            <a:blipFill>
              <a:blip r:embed="rId4"/>
              <a:stretch>
                <a:fillRect l="0" t="-19607" r="0" b="-19607"/>
              </a:stretch>
            </a:blipFill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2286429" y="8882499"/>
            <a:ext cx="3588675" cy="3562576"/>
          </a:xfrm>
          <a:custGeom>
            <a:avLst/>
            <a:gdLst/>
            <a:ahLst/>
            <a:cxnLst/>
            <a:rect r="r" b="b" t="t" l="l"/>
            <a:pathLst>
              <a:path h="3562576" w="3588675">
                <a:moveTo>
                  <a:pt x="0" y="0"/>
                </a:moveTo>
                <a:lnTo>
                  <a:pt x="3588675" y="0"/>
                </a:lnTo>
                <a:lnTo>
                  <a:pt x="3588675" y="3562576"/>
                </a:lnTo>
                <a:lnTo>
                  <a:pt x="0" y="356257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7292512" y="-1957491"/>
            <a:ext cx="3588675" cy="3562576"/>
          </a:xfrm>
          <a:custGeom>
            <a:avLst/>
            <a:gdLst/>
            <a:ahLst/>
            <a:cxnLst/>
            <a:rect r="r" b="b" t="t" l="l"/>
            <a:pathLst>
              <a:path h="3562576" w="3588675">
                <a:moveTo>
                  <a:pt x="0" y="0"/>
                </a:moveTo>
                <a:lnTo>
                  <a:pt x="3588676" y="0"/>
                </a:lnTo>
                <a:lnTo>
                  <a:pt x="3588676" y="3562575"/>
                </a:lnTo>
                <a:lnTo>
                  <a:pt x="0" y="356257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352894" y="506218"/>
            <a:ext cx="752006" cy="3986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97"/>
              </a:lnSpc>
              <a:spcBef>
                <a:spcPct val="0"/>
              </a:spcBef>
            </a:pPr>
            <a:r>
              <a:rPr lang="en-US" sz="2355" i="true">
                <a:solidFill>
                  <a:srgbClr val="FFFFFF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02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00386" y="1586725"/>
            <a:ext cx="5725541" cy="12660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472"/>
              </a:lnSpc>
              <a:spcBef>
                <a:spcPct val="0"/>
              </a:spcBef>
            </a:pPr>
            <a:r>
              <a:rPr lang="en-US" sz="7480">
                <a:solidFill>
                  <a:srgbClr val="FF5E13"/>
                </a:solidFill>
                <a:latin typeface="Anton"/>
                <a:ea typeface="Anton"/>
                <a:cs typeface="Anton"/>
                <a:sym typeface="Anton"/>
              </a:rPr>
              <a:t>Introduction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84565" y="2948032"/>
            <a:ext cx="6807947" cy="55622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61"/>
              </a:lnSpc>
            </a:pPr>
            <a:r>
              <a:rPr lang="en-US" sz="2278" b="true">
                <a:solidFill>
                  <a:srgbClr val="27577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What is a Logistics Delivery App?</a:t>
            </a:r>
          </a:p>
          <a:p>
            <a:pPr algn="l">
              <a:lnSpc>
                <a:spcPts val="2961"/>
              </a:lnSpc>
            </a:pPr>
            <a:r>
              <a:rPr lang="en-US" sz="2278" b="true">
                <a:solidFill>
                  <a:srgbClr val="27577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 system used to manage delivery routes efficiently</a:t>
            </a:r>
          </a:p>
          <a:p>
            <a:pPr algn="l">
              <a:lnSpc>
                <a:spcPts val="2961"/>
              </a:lnSpc>
            </a:pPr>
            <a:r>
              <a:rPr lang="en-US" sz="2278" b="true">
                <a:solidFill>
                  <a:srgbClr val="27577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Used by companies like courier services, food delivery, e-commerce</a:t>
            </a:r>
          </a:p>
          <a:p>
            <a:pPr algn="l">
              <a:lnSpc>
                <a:spcPts val="2961"/>
              </a:lnSpc>
            </a:pPr>
          </a:p>
          <a:p>
            <a:pPr algn="l">
              <a:lnSpc>
                <a:spcPts val="2961"/>
              </a:lnSpc>
            </a:pPr>
            <a:r>
              <a:rPr lang="en-US" sz="2278" b="true">
                <a:solidFill>
                  <a:srgbClr val="27577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Real-World Problems:</a:t>
            </a:r>
          </a:p>
          <a:p>
            <a:pPr algn="l">
              <a:lnSpc>
                <a:spcPts val="2961"/>
              </a:lnSpc>
            </a:pPr>
            <a:r>
              <a:rPr lang="en-US" sz="2278" b="true">
                <a:solidFill>
                  <a:srgbClr val="27577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Finding shortest delivery route</a:t>
            </a:r>
          </a:p>
          <a:p>
            <a:pPr algn="l">
              <a:lnSpc>
                <a:spcPts val="2961"/>
              </a:lnSpc>
            </a:pPr>
            <a:r>
              <a:rPr lang="en-US" sz="2278" b="true">
                <a:solidFill>
                  <a:srgbClr val="27577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Managing multiple locations</a:t>
            </a:r>
          </a:p>
          <a:p>
            <a:pPr algn="l">
              <a:lnSpc>
                <a:spcPts val="2961"/>
              </a:lnSpc>
            </a:pPr>
            <a:r>
              <a:rPr lang="en-US" sz="2278" b="true">
                <a:solidFill>
                  <a:srgbClr val="27577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Updating routes dynamically</a:t>
            </a:r>
          </a:p>
          <a:p>
            <a:pPr algn="l">
              <a:lnSpc>
                <a:spcPts val="2961"/>
              </a:lnSpc>
            </a:pPr>
            <a:r>
              <a:rPr lang="en-US" sz="2278" b="true">
                <a:solidFill>
                  <a:srgbClr val="27577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Handling route failures</a:t>
            </a:r>
          </a:p>
          <a:p>
            <a:pPr algn="l">
              <a:lnSpc>
                <a:spcPts val="2961"/>
              </a:lnSpc>
            </a:pPr>
          </a:p>
          <a:p>
            <a:pPr algn="l">
              <a:lnSpc>
                <a:spcPts val="2961"/>
              </a:lnSpc>
            </a:pPr>
            <a:r>
              <a:rPr lang="en-US" sz="2278" b="true">
                <a:solidFill>
                  <a:srgbClr val="27577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Our Solution:</a:t>
            </a:r>
          </a:p>
          <a:p>
            <a:pPr algn="l">
              <a:lnSpc>
                <a:spcPts val="2961"/>
              </a:lnSpc>
            </a:pPr>
            <a:r>
              <a:rPr lang="en-US" sz="2278" b="true">
                <a:solidFill>
                  <a:srgbClr val="27577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Use Graph Data Structure</a:t>
            </a:r>
          </a:p>
          <a:p>
            <a:pPr algn="l">
              <a:lnSpc>
                <a:spcPts val="2961"/>
              </a:lnSpc>
            </a:pPr>
            <a:r>
              <a:rPr lang="en-US" sz="2278" b="true">
                <a:solidFill>
                  <a:srgbClr val="27577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Apply Dijkstra Algorithm for shortest path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694352" y="-1694352"/>
            <a:ext cx="3980781" cy="3980781"/>
            <a:chOff x="0" y="0"/>
            <a:chExt cx="5307708" cy="530770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307708" cy="5307708"/>
            </a:xfrm>
            <a:custGeom>
              <a:avLst/>
              <a:gdLst/>
              <a:ahLst/>
              <a:cxnLst/>
              <a:rect r="r" b="b" t="t" l="l"/>
              <a:pathLst>
                <a:path h="5307708" w="5307708">
                  <a:moveTo>
                    <a:pt x="0" y="0"/>
                  </a:moveTo>
                  <a:lnTo>
                    <a:pt x="5307708" y="0"/>
                  </a:lnTo>
                  <a:lnTo>
                    <a:pt x="5307708" y="5307708"/>
                  </a:lnTo>
                  <a:lnTo>
                    <a:pt x="0" y="53077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24000"/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5" id="5"/>
            <p:cNvGrpSpPr/>
            <p:nvPr/>
          </p:nvGrpSpPr>
          <p:grpSpPr>
            <a:xfrm rot="0">
              <a:off x="757795" y="757795"/>
              <a:ext cx="3792117" cy="3792117"/>
              <a:chOff x="0" y="0"/>
              <a:chExt cx="812800" cy="81280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5E13"/>
              </a:soli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586"/>
                  </a:lnSpc>
                </a:pPr>
              </a:p>
            </p:txBody>
          </p:sp>
        </p:grpSp>
      </p:grpSp>
      <p:sp>
        <p:nvSpPr>
          <p:cNvPr name="TextBox 8" id="8"/>
          <p:cNvSpPr txBox="true"/>
          <p:nvPr/>
        </p:nvSpPr>
        <p:spPr>
          <a:xfrm rot="0">
            <a:off x="352894" y="506218"/>
            <a:ext cx="752006" cy="3986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97"/>
              </a:lnSpc>
              <a:spcBef>
                <a:spcPct val="0"/>
              </a:spcBef>
            </a:pPr>
            <a:r>
              <a:rPr lang="en-US" sz="2355" i="true">
                <a:solidFill>
                  <a:srgbClr val="FFFFFF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03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20312" y="1349934"/>
            <a:ext cx="7827938" cy="936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7707"/>
              </a:lnSpc>
              <a:spcBef>
                <a:spcPct val="0"/>
              </a:spcBef>
            </a:pPr>
            <a:r>
              <a:rPr lang="en-US" sz="5505">
                <a:solidFill>
                  <a:srgbClr val="FF5E13"/>
                </a:solidFill>
                <a:latin typeface="Anton"/>
                <a:ea typeface="Anton"/>
                <a:cs typeface="Anton"/>
                <a:sym typeface="Anton"/>
              </a:rPr>
              <a:t>graphical Representation: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-742131" y="2446412"/>
            <a:ext cx="11386939" cy="69658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28"/>
              </a:lnSpc>
            </a:pPr>
            <a:r>
              <a:rPr lang="en-US" sz="2449" b="tru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Vertices (Nodes): Locations (Cities, Warehouses)</a:t>
            </a:r>
          </a:p>
          <a:p>
            <a:pPr algn="ctr">
              <a:lnSpc>
                <a:spcPts val="3428"/>
              </a:lnSpc>
            </a:pPr>
            <a:r>
              <a:rPr lang="en-US" sz="2449" b="tru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Edges: Routes between locations</a:t>
            </a:r>
          </a:p>
          <a:p>
            <a:pPr algn="ctr">
              <a:lnSpc>
                <a:spcPts val="3428"/>
              </a:lnSpc>
            </a:pPr>
            <a:r>
              <a:rPr lang="en-US" sz="2449" b="tru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Weight: Distance or cost</a:t>
            </a:r>
          </a:p>
          <a:p>
            <a:pPr algn="ctr">
              <a:lnSpc>
                <a:spcPts val="2783"/>
              </a:lnSpc>
            </a:pPr>
          </a:p>
          <a:p>
            <a:pPr algn="ctr">
              <a:lnSpc>
                <a:spcPts val="2783"/>
              </a:lnSpc>
            </a:pPr>
          </a:p>
          <a:p>
            <a:pPr algn="ctr">
              <a:lnSpc>
                <a:spcPts val="3106"/>
              </a:lnSpc>
            </a:pPr>
            <a:r>
              <a:rPr lang="en-US" sz="2218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 Code:</a:t>
            </a:r>
          </a:p>
          <a:p>
            <a:pPr algn="ctr">
              <a:lnSpc>
                <a:spcPts val="3106"/>
              </a:lnSpc>
            </a:pPr>
            <a:r>
              <a:rPr lang="en-US" sz="2218" b="tru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typedef struct Node {</a:t>
            </a:r>
          </a:p>
          <a:p>
            <a:pPr algn="ctr">
              <a:lnSpc>
                <a:spcPts val="3106"/>
              </a:lnSpc>
            </a:pPr>
            <a:r>
              <a:rPr lang="en-US" sz="2218" b="tru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   int dest;</a:t>
            </a:r>
          </a:p>
          <a:p>
            <a:pPr algn="ctr">
              <a:lnSpc>
                <a:spcPts val="3106"/>
              </a:lnSpc>
            </a:pPr>
            <a:r>
              <a:rPr lang="en-US" sz="2218" b="tru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   int weight;</a:t>
            </a:r>
          </a:p>
          <a:p>
            <a:pPr algn="ctr">
              <a:lnSpc>
                <a:spcPts val="3106"/>
              </a:lnSpc>
            </a:pPr>
            <a:r>
              <a:rPr lang="en-US" sz="2218" b="tru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   struct Node* next;</a:t>
            </a:r>
          </a:p>
          <a:p>
            <a:pPr algn="ctr">
              <a:lnSpc>
                <a:spcPts val="3106"/>
              </a:lnSpc>
            </a:pPr>
            <a:r>
              <a:rPr lang="en-US" sz="2218" b="tru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} Node;</a:t>
            </a:r>
          </a:p>
          <a:p>
            <a:pPr algn="ctr">
              <a:lnSpc>
                <a:spcPts val="3106"/>
              </a:lnSpc>
            </a:pPr>
          </a:p>
          <a:p>
            <a:pPr algn="ctr">
              <a:lnSpc>
                <a:spcPts val="3106"/>
              </a:lnSpc>
            </a:pPr>
            <a:r>
              <a:rPr lang="en-US" sz="2218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Graph Structure:</a:t>
            </a:r>
          </a:p>
          <a:p>
            <a:pPr algn="ctr">
              <a:lnSpc>
                <a:spcPts val="3106"/>
              </a:lnSpc>
            </a:pPr>
            <a:r>
              <a:rPr lang="en-US" sz="2218" b="tru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typedef struct Graph {</a:t>
            </a:r>
          </a:p>
          <a:p>
            <a:pPr algn="ctr">
              <a:lnSpc>
                <a:spcPts val="3106"/>
              </a:lnSpc>
            </a:pPr>
            <a:r>
              <a:rPr lang="en-US" sz="2218" b="tru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   int numVertices;</a:t>
            </a:r>
          </a:p>
          <a:p>
            <a:pPr algn="ctr">
              <a:lnSpc>
                <a:spcPts val="3106"/>
              </a:lnSpc>
            </a:pPr>
            <a:r>
              <a:rPr lang="en-US" sz="2218" b="tru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   char locations[MAX][50];</a:t>
            </a:r>
          </a:p>
          <a:p>
            <a:pPr algn="ctr">
              <a:lnSpc>
                <a:spcPts val="3106"/>
              </a:lnSpc>
            </a:pPr>
            <a:r>
              <a:rPr lang="en-US" sz="2218" b="tru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   Node* adjList[MAX];</a:t>
            </a:r>
          </a:p>
          <a:p>
            <a:pPr algn="ctr">
              <a:lnSpc>
                <a:spcPts val="3106"/>
              </a:lnSpc>
              <a:spcBef>
                <a:spcPct val="0"/>
              </a:spcBef>
            </a:pPr>
            <a:r>
              <a:rPr lang="en-US" b="true" sz="2218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} Graph;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814643" y="7296541"/>
            <a:ext cx="4533424" cy="23602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83"/>
              </a:lnSpc>
            </a:pPr>
            <a:r>
              <a:rPr lang="en-US" sz="2702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Why Adjacency List?</a:t>
            </a:r>
          </a:p>
          <a:p>
            <a:pPr algn="ctr">
              <a:lnSpc>
                <a:spcPts val="3783"/>
              </a:lnSpc>
            </a:pPr>
            <a:r>
              <a:rPr lang="en-US" sz="2702" b="tru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Efficient memory usage</a:t>
            </a:r>
          </a:p>
          <a:p>
            <a:pPr algn="ctr">
              <a:lnSpc>
                <a:spcPts val="3783"/>
              </a:lnSpc>
            </a:pPr>
            <a:r>
              <a:rPr lang="en-US" sz="2702" b="tru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Suitable for sparse graphs</a:t>
            </a:r>
          </a:p>
          <a:p>
            <a:pPr algn="ctr">
              <a:lnSpc>
                <a:spcPts val="3783"/>
              </a:lnSpc>
            </a:pPr>
            <a:r>
              <a:rPr lang="en-US" sz="2702" b="tru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Faster traversal</a:t>
            </a:r>
          </a:p>
          <a:p>
            <a:pPr algn="ctr">
              <a:lnSpc>
                <a:spcPts val="3783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9292739">
            <a:off x="9172248" y="195693"/>
            <a:ext cx="1183750" cy="1175141"/>
          </a:xfrm>
          <a:custGeom>
            <a:avLst/>
            <a:gdLst/>
            <a:ahLst/>
            <a:cxnLst/>
            <a:rect r="r" b="b" t="t" l="l"/>
            <a:pathLst>
              <a:path h="1175141" w="1183750">
                <a:moveTo>
                  <a:pt x="0" y="0"/>
                </a:moveTo>
                <a:lnTo>
                  <a:pt x="1183750" y="0"/>
                </a:lnTo>
                <a:lnTo>
                  <a:pt x="1183750" y="1175141"/>
                </a:lnTo>
                <a:lnTo>
                  <a:pt x="0" y="11751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3236403">
            <a:off x="7478787" y="8040680"/>
            <a:ext cx="2199241" cy="2183247"/>
          </a:xfrm>
          <a:custGeom>
            <a:avLst/>
            <a:gdLst/>
            <a:ahLst/>
            <a:cxnLst/>
            <a:rect r="r" b="b" t="t" l="l"/>
            <a:pathLst>
              <a:path h="2183247" w="2199241">
                <a:moveTo>
                  <a:pt x="0" y="0"/>
                </a:moveTo>
                <a:lnTo>
                  <a:pt x="2199241" y="0"/>
                </a:lnTo>
                <a:lnTo>
                  <a:pt x="2199241" y="2183247"/>
                </a:lnTo>
                <a:lnTo>
                  <a:pt x="0" y="21832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-1694352" y="-1694352"/>
            <a:ext cx="3980781" cy="3980781"/>
            <a:chOff x="0" y="0"/>
            <a:chExt cx="5307708" cy="530770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307708" cy="5307708"/>
            </a:xfrm>
            <a:custGeom>
              <a:avLst/>
              <a:gdLst/>
              <a:ahLst/>
              <a:cxnLst/>
              <a:rect r="r" b="b" t="t" l="l"/>
              <a:pathLst>
                <a:path h="5307708" w="5307708">
                  <a:moveTo>
                    <a:pt x="0" y="0"/>
                  </a:moveTo>
                  <a:lnTo>
                    <a:pt x="5307708" y="0"/>
                  </a:lnTo>
                  <a:lnTo>
                    <a:pt x="5307708" y="5307708"/>
                  </a:lnTo>
                  <a:lnTo>
                    <a:pt x="0" y="53077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24000"/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6" id="6"/>
            <p:cNvGrpSpPr/>
            <p:nvPr/>
          </p:nvGrpSpPr>
          <p:grpSpPr>
            <a:xfrm rot="0">
              <a:off x="757795" y="757795"/>
              <a:ext cx="3792117" cy="3792117"/>
              <a:chOff x="0" y="0"/>
              <a:chExt cx="812800" cy="8128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5E13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586"/>
                  </a:lnSpc>
                </a:pPr>
              </a:p>
            </p:txBody>
          </p:sp>
        </p:grpSp>
      </p:grpSp>
      <p:grpSp>
        <p:nvGrpSpPr>
          <p:cNvPr name="Group 9" id="9"/>
          <p:cNvGrpSpPr/>
          <p:nvPr/>
        </p:nvGrpSpPr>
        <p:grpSpPr>
          <a:xfrm rot="0">
            <a:off x="10245096" y="893255"/>
            <a:ext cx="7014204" cy="6963192"/>
            <a:chOff x="0" y="0"/>
            <a:chExt cx="9352272" cy="928425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352272" cy="9284256"/>
            </a:xfrm>
            <a:custGeom>
              <a:avLst/>
              <a:gdLst/>
              <a:ahLst/>
              <a:cxnLst/>
              <a:rect r="r" b="b" t="t" l="l"/>
              <a:pathLst>
                <a:path h="9284256" w="9352272">
                  <a:moveTo>
                    <a:pt x="0" y="0"/>
                  </a:moveTo>
                  <a:lnTo>
                    <a:pt x="9352272" y="0"/>
                  </a:lnTo>
                  <a:lnTo>
                    <a:pt x="9352272" y="9284256"/>
                  </a:lnTo>
                  <a:lnTo>
                    <a:pt x="0" y="92842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true" flipV="true" rot="0">
              <a:off x="2330542" y="2003935"/>
              <a:ext cx="4691187" cy="5276387"/>
            </a:xfrm>
            <a:custGeom>
              <a:avLst/>
              <a:gdLst/>
              <a:ahLst/>
              <a:cxnLst/>
              <a:rect r="r" b="b" t="t" l="l"/>
              <a:pathLst>
                <a:path h="5276387" w="4691187">
                  <a:moveTo>
                    <a:pt x="4691188" y="5276386"/>
                  </a:moveTo>
                  <a:lnTo>
                    <a:pt x="0" y="5276386"/>
                  </a:lnTo>
                  <a:lnTo>
                    <a:pt x="0" y="0"/>
                  </a:lnTo>
                  <a:lnTo>
                    <a:pt x="4691188" y="0"/>
                  </a:lnTo>
                  <a:lnTo>
                    <a:pt x="4691188" y="5276386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352894" y="506218"/>
            <a:ext cx="752006" cy="3986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97"/>
              </a:lnSpc>
              <a:spcBef>
                <a:spcPct val="0"/>
              </a:spcBef>
            </a:pPr>
            <a:r>
              <a:rPr lang="en-US" sz="2355" i="true">
                <a:solidFill>
                  <a:srgbClr val="FFFFFF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04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28897" y="1461752"/>
            <a:ext cx="7473508" cy="9084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45"/>
              </a:lnSpc>
              <a:spcBef>
                <a:spcPct val="0"/>
              </a:spcBef>
            </a:pPr>
            <a:r>
              <a:rPr lang="en-US" sz="5317">
                <a:solidFill>
                  <a:srgbClr val="FF5E13"/>
                </a:solidFill>
                <a:latin typeface="Anton"/>
                <a:ea typeface="Anton"/>
                <a:cs typeface="Anton"/>
                <a:sym typeface="Anton"/>
              </a:rPr>
              <a:t>Features of the application: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96038" y="2477251"/>
            <a:ext cx="8957854" cy="64175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2"/>
              </a:lnSpc>
            </a:pPr>
            <a:r>
              <a:rPr lang="en-US" sz="1779" b="true">
                <a:solidFill>
                  <a:srgbClr val="27577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1. Add Location</a:t>
            </a:r>
          </a:p>
          <a:p>
            <a:pPr algn="l">
              <a:lnSpc>
                <a:spcPts val="2312"/>
              </a:lnSpc>
            </a:pPr>
            <a:r>
              <a:rPr lang="en-US" sz="1779" b="true">
                <a:solidFill>
                  <a:srgbClr val="27577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Adds new delivery point</a:t>
            </a:r>
          </a:p>
          <a:p>
            <a:pPr algn="l">
              <a:lnSpc>
                <a:spcPts val="2312"/>
              </a:lnSpc>
            </a:pPr>
            <a:r>
              <a:rPr lang="en-US" sz="1779" b="true">
                <a:solidFill>
                  <a:srgbClr val="27577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Stored in array</a:t>
            </a:r>
          </a:p>
          <a:p>
            <a:pPr algn="l">
              <a:lnSpc>
                <a:spcPts val="2312"/>
              </a:lnSpc>
            </a:pPr>
          </a:p>
          <a:p>
            <a:pPr algn="l">
              <a:lnSpc>
                <a:spcPts val="2312"/>
              </a:lnSpc>
            </a:pPr>
            <a:r>
              <a:rPr lang="en-US" sz="1779" b="true">
                <a:solidFill>
                  <a:srgbClr val="27577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2. Add Route</a:t>
            </a:r>
          </a:p>
          <a:p>
            <a:pPr algn="l">
              <a:lnSpc>
                <a:spcPts val="2312"/>
              </a:lnSpc>
            </a:pPr>
            <a:r>
              <a:rPr lang="en-US" sz="1779" b="true">
                <a:solidFill>
                  <a:srgbClr val="27577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Connects two locations</a:t>
            </a:r>
          </a:p>
          <a:p>
            <a:pPr algn="l">
              <a:lnSpc>
                <a:spcPts val="2312"/>
              </a:lnSpc>
            </a:pPr>
            <a:r>
              <a:rPr lang="en-US" sz="1779" b="true">
                <a:solidFill>
                  <a:srgbClr val="27577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Assigns distance</a:t>
            </a:r>
          </a:p>
          <a:p>
            <a:pPr algn="l">
              <a:lnSpc>
                <a:spcPts val="2312"/>
              </a:lnSpc>
            </a:pPr>
          </a:p>
          <a:p>
            <a:pPr algn="l">
              <a:lnSpc>
                <a:spcPts val="2312"/>
              </a:lnSpc>
            </a:pPr>
            <a:r>
              <a:rPr lang="en-US" sz="1779" b="true">
                <a:solidFill>
                  <a:srgbClr val="27577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3. Display Graph</a:t>
            </a:r>
          </a:p>
          <a:p>
            <a:pPr algn="l">
              <a:lnSpc>
                <a:spcPts val="2312"/>
              </a:lnSpc>
            </a:pPr>
            <a:r>
              <a:rPr lang="en-US" sz="1779" b="true">
                <a:solidFill>
                  <a:srgbClr val="27577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Shows all routes and connections</a:t>
            </a:r>
          </a:p>
          <a:p>
            <a:pPr algn="l">
              <a:lnSpc>
                <a:spcPts val="2312"/>
              </a:lnSpc>
            </a:pPr>
          </a:p>
          <a:p>
            <a:pPr algn="l">
              <a:lnSpc>
                <a:spcPts val="2312"/>
              </a:lnSpc>
            </a:pPr>
            <a:r>
              <a:rPr lang="en-US" sz="1779" b="true">
                <a:solidFill>
                  <a:srgbClr val="27577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4. Search Location</a:t>
            </a:r>
          </a:p>
          <a:p>
            <a:pPr algn="l">
              <a:lnSpc>
                <a:spcPts val="2312"/>
              </a:lnSpc>
            </a:pPr>
            <a:r>
              <a:rPr lang="en-US" sz="1779" b="true">
                <a:solidFill>
                  <a:srgbClr val="27577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Checks if location exists</a:t>
            </a:r>
          </a:p>
          <a:p>
            <a:pPr algn="l">
              <a:lnSpc>
                <a:spcPts val="2312"/>
              </a:lnSpc>
            </a:pPr>
          </a:p>
          <a:p>
            <a:pPr algn="l">
              <a:lnSpc>
                <a:spcPts val="2312"/>
              </a:lnSpc>
            </a:pPr>
            <a:r>
              <a:rPr lang="en-US" sz="1779" b="true">
                <a:solidFill>
                  <a:srgbClr val="27577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5. Update Route</a:t>
            </a:r>
          </a:p>
          <a:p>
            <a:pPr algn="l">
              <a:lnSpc>
                <a:spcPts val="2312"/>
              </a:lnSpc>
            </a:pPr>
            <a:r>
              <a:rPr lang="en-US" sz="1779" b="true">
                <a:solidFill>
                  <a:srgbClr val="27577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Modify distance between locations</a:t>
            </a:r>
          </a:p>
          <a:p>
            <a:pPr algn="l">
              <a:lnSpc>
                <a:spcPts val="2312"/>
              </a:lnSpc>
            </a:pPr>
          </a:p>
          <a:p>
            <a:pPr algn="l">
              <a:lnSpc>
                <a:spcPts val="2312"/>
              </a:lnSpc>
            </a:pPr>
            <a:r>
              <a:rPr lang="en-US" sz="1779" b="true">
                <a:solidFill>
                  <a:srgbClr val="27577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6. Delete Route</a:t>
            </a:r>
          </a:p>
          <a:p>
            <a:pPr algn="l">
              <a:lnSpc>
                <a:spcPts val="2312"/>
              </a:lnSpc>
            </a:pPr>
            <a:r>
              <a:rPr lang="en-US" sz="1779" b="true">
                <a:solidFill>
                  <a:srgbClr val="27577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Remove existing route</a:t>
            </a:r>
          </a:p>
          <a:p>
            <a:pPr algn="l">
              <a:lnSpc>
                <a:spcPts val="2312"/>
              </a:lnSpc>
            </a:pPr>
          </a:p>
          <a:p>
            <a:pPr algn="l">
              <a:lnSpc>
                <a:spcPts val="2312"/>
              </a:lnSpc>
            </a:pPr>
            <a:r>
              <a:rPr lang="en-US" sz="1779" b="true">
                <a:solidFill>
                  <a:srgbClr val="27577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7. Shortest Path</a:t>
            </a:r>
          </a:p>
          <a:p>
            <a:pPr algn="l">
              <a:lnSpc>
                <a:spcPts val="2312"/>
              </a:lnSpc>
            </a:pPr>
            <a:r>
              <a:rPr lang="en-US" sz="1779" b="true">
                <a:solidFill>
                  <a:srgbClr val="27577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Finds minimum distance using Dijkstra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-300849" y="9258300"/>
            <a:ext cx="18559277" cy="1204904"/>
            <a:chOff x="0" y="0"/>
            <a:chExt cx="4888040" cy="31734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888040" cy="317341"/>
            </a:xfrm>
            <a:custGeom>
              <a:avLst/>
              <a:gdLst/>
              <a:ahLst/>
              <a:cxnLst/>
              <a:rect r="r" b="b" t="t" l="l"/>
              <a:pathLst>
                <a:path h="317341" w="4888040">
                  <a:moveTo>
                    <a:pt x="0" y="0"/>
                  </a:moveTo>
                  <a:lnTo>
                    <a:pt x="4888040" y="0"/>
                  </a:lnTo>
                  <a:lnTo>
                    <a:pt x="4888040" y="317341"/>
                  </a:lnTo>
                  <a:lnTo>
                    <a:pt x="0" y="317341"/>
                  </a:lnTo>
                  <a:close/>
                </a:path>
              </a:pathLst>
            </a:custGeom>
            <a:solidFill>
              <a:srgbClr val="FF5E13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4888040" cy="3649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86"/>
                </a:lnSpc>
              </a:pP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694352" y="-1694352"/>
            <a:ext cx="3980781" cy="3980781"/>
            <a:chOff x="0" y="0"/>
            <a:chExt cx="5307708" cy="530770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307708" cy="5307708"/>
            </a:xfrm>
            <a:custGeom>
              <a:avLst/>
              <a:gdLst/>
              <a:ahLst/>
              <a:cxnLst/>
              <a:rect r="r" b="b" t="t" l="l"/>
              <a:pathLst>
                <a:path h="5307708" w="5307708">
                  <a:moveTo>
                    <a:pt x="0" y="0"/>
                  </a:moveTo>
                  <a:lnTo>
                    <a:pt x="5307708" y="0"/>
                  </a:lnTo>
                  <a:lnTo>
                    <a:pt x="5307708" y="5307708"/>
                  </a:lnTo>
                  <a:lnTo>
                    <a:pt x="0" y="53077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4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4" id="4"/>
            <p:cNvGrpSpPr/>
            <p:nvPr/>
          </p:nvGrpSpPr>
          <p:grpSpPr>
            <a:xfrm rot="0">
              <a:off x="757795" y="757795"/>
              <a:ext cx="3792117" cy="3792117"/>
              <a:chOff x="0" y="0"/>
              <a:chExt cx="812800" cy="81280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5E13"/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586"/>
                  </a:lnSpc>
                </a:pPr>
              </a:p>
            </p:txBody>
          </p:sp>
        </p:grpSp>
      </p:grpSp>
      <p:grpSp>
        <p:nvGrpSpPr>
          <p:cNvPr name="Group 7" id="7"/>
          <p:cNvGrpSpPr/>
          <p:nvPr/>
        </p:nvGrpSpPr>
        <p:grpSpPr>
          <a:xfrm rot="0">
            <a:off x="8760826" y="1982838"/>
            <a:ext cx="10899367" cy="10899367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E13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97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1025905" y="3402076"/>
            <a:ext cx="6062694" cy="5610748"/>
          </a:xfrm>
          <a:custGeom>
            <a:avLst/>
            <a:gdLst/>
            <a:ahLst/>
            <a:cxnLst/>
            <a:rect r="r" b="b" t="t" l="l"/>
            <a:pathLst>
              <a:path h="5610748" w="6062694">
                <a:moveTo>
                  <a:pt x="0" y="0"/>
                </a:moveTo>
                <a:lnTo>
                  <a:pt x="6062694" y="0"/>
                </a:lnTo>
                <a:lnTo>
                  <a:pt x="6062694" y="5610748"/>
                </a:lnTo>
                <a:lnTo>
                  <a:pt x="0" y="561074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311138" y="1495004"/>
            <a:ext cx="8671403" cy="6901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48"/>
              </a:lnSpc>
            </a:pPr>
            <a:r>
              <a:rPr lang="en-US" sz="4617">
                <a:solidFill>
                  <a:srgbClr val="FF5E13"/>
                </a:solidFill>
                <a:latin typeface="Anton"/>
                <a:ea typeface="Anton"/>
                <a:cs typeface="Anton"/>
                <a:sym typeface="Anton"/>
              </a:rPr>
              <a:t>Shortest Path(Dijkstra Algorithm):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52894" y="2166096"/>
            <a:ext cx="8264510" cy="7308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494" b="true">
                <a:solidFill>
                  <a:srgbClr val="27577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Purpose:</a:t>
            </a:r>
          </a:p>
          <a:p>
            <a:pPr algn="l">
              <a:lnSpc>
                <a:spcPts val="3242"/>
              </a:lnSpc>
            </a:pPr>
          </a:p>
          <a:p>
            <a:pPr algn="l">
              <a:lnSpc>
                <a:spcPts val="3242"/>
              </a:lnSpc>
            </a:pPr>
            <a:r>
              <a:rPr lang="en-US" sz="2494" b="true">
                <a:solidFill>
                  <a:srgbClr val="27577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Find shortest delivery path between two locations</a:t>
            </a:r>
          </a:p>
          <a:p>
            <a:pPr algn="l">
              <a:lnSpc>
                <a:spcPts val="3242"/>
              </a:lnSpc>
            </a:pPr>
            <a:r>
              <a:rPr lang="en-US" sz="2494" b="true">
                <a:solidFill>
                  <a:srgbClr val="27577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How it Works:</a:t>
            </a:r>
          </a:p>
          <a:p>
            <a:pPr algn="l">
              <a:lnSpc>
                <a:spcPts val="3242"/>
              </a:lnSpc>
            </a:pPr>
            <a:r>
              <a:rPr lang="en-US" sz="2494">
                <a:solidFill>
                  <a:srgbClr val="27577D"/>
                </a:solidFill>
                <a:latin typeface="Montserrat"/>
                <a:ea typeface="Montserrat"/>
                <a:cs typeface="Montserrat"/>
                <a:sym typeface="Montserrat"/>
              </a:rPr>
              <a:t>1.</a:t>
            </a:r>
            <a:r>
              <a:rPr lang="en-US" sz="2494" b="true">
                <a:solidFill>
                  <a:srgbClr val="27577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Start from source node</a:t>
            </a:r>
          </a:p>
          <a:p>
            <a:pPr algn="l">
              <a:lnSpc>
                <a:spcPts val="3242"/>
              </a:lnSpc>
            </a:pPr>
            <a:r>
              <a:rPr lang="en-US" sz="2494">
                <a:solidFill>
                  <a:srgbClr val="27577D"/>
                </a:solidFill>
                <a:latin typeface="Montserrat"/>
                <a:ea typeface="Montserrat"/>
                <a:cs typeface="Montserrat"/>
                <a:sym typeface="Montserrat"/>
              </a:rPr>
              <a:t>2.</a:t>
            </a:r>
            <a:r>
              <a:rPr lang="en-US" sz="2494" b="true">
                <a:solidFill>
                  <a:srgbClr val="27577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Assign distance = 0</a:t>
            </a:r>
          </a:p>
          <a:p>
            <a:pPr algn="l">
              <a:lnSpc>
                <a:spcPts val="3242"/>
              </a:lnSpc>
            </a:pPr>
            <a:r>
              <a:rPr lang="en-US" sz="2494">
                <a:solidFill>
                  <a:srgbClr val="27577D"/>
                </a:solidFill>
                <a:latin typeface="Montserrat"/>
                <a:ea typeface="Montserrat"/>
                <a:cs typeface="Montserrat"/>
                <a:sym typeface="Montserrat"/>
              </a:rPr>
              <a:t>3.</a:t>
            </a:r>
            <a:r>
              <a:rPr lang="en-US" sz="2494" b="true">
                <a:solidFill>
                  <a:srgbClr val="27577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Update neighboring distances</a:t>
            </a:r>
          </a:p>
          <a:p>
            <a:pPr algn="l">
              <a:lnSpc>
                <a:spcPts val="3242"/>
              </a:lnSpc>
            </a:pPr>
            <a:r>
              <a:rPr lang="en-US" sz="2494">
                <a:solidFill>
                  <a:srgbClr val="27577D"/>
                </a:solidFill>
                <a:latin typeface="Montserrat"/>
                <a:ea typeface="Montserrat"/>
                <a:cs typeface="Montserrat"/>
                <a:sym typeface="Montserrat"/>
              </a:rPr>
              <a:t>4.</a:t>
            </a:r>
            <a:r>
              <a:rPr lang="en-US" sz="2494" b="true">
                <a:solidFill>
                  <a:srgbClr val="27577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Select minimum distance node</a:t>
            </a:r>
          </a:p>
          <a:p>
            <a:pPr algn="l">
              <a:lnSpc>
                <a:spcPts val="3242"/>
              </a:lnSpc>
            </a:pPr>
            <a:r>
              <a:rPr lang="en-US" sz="2494">
                <a:solidFill>
                  <a:srgbClr val="27577D"/>
                </a:solidFill>
                <a:latin typeface="Montserrat"/>
                <a:ea typeface="Montserrat"/>
                <a:cs typeface="Montserrat"/>
                <a:sym typeface="Montserrat"/>
              </a:rPr>
              <a:t>5.</a:t>
            </a:r>
            <a:r>
              <a:rPr lang="en-US" sz="2494" b="true">
                <a:solidFill>
                  <a:srgbClr val="27577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Repeat until destination reached</a:t>
            </a:r>
          </a:p>
          <a:p>
            <a:pPr algn="l">
              <a:lnSpc>
                <a:spcPts val="3242"/>
              </a:lnSpc>
            </a:pPr>
          </a:p>
          <a:p>
            <a:pPr algn="l">
              <a:lnSpc>
                <a:spcPts val="3242"/>
              </a:lnSpc>
            </a:pPr>
            <a:r>
              <a:rPr lang="en-US" sz="2494" b="true">
                <a:solidFill>
                  <a:srgbClr val="27577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 Code:</a:t>
            </a:r>
          </a:p>
          <a:p>
            <a:pPr algn="l">
              <a:lnSpc>
                <a:spcPts val="3242"/>
              </a:lnSpc>
            </a:pPr>
            <a:r>
              <a:rPr lang="en-US" sz="2494" b="true">
                <a:solidFill>
                  <a:srgbClr val="27577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dist[s] = 0;</a:t>
            </a:r>
          </a:p>
          <a:p>
            <a:pPr algn="l">
              <a:lnSpc>
                <a:spcPts val="3242"/>
              </a:lnSpc>
            </a:pPr>
            <a:r>
              <a:rPr lang="en-US" sz="2494" b="true">
                <a:solidFill>
                  <a:srgbClr val="27577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if (dist[u] + temp-&gt;weight &lt; dist[temp-&gt;dest])</a:t>
            </a:r>
          </a:p>
          <a:p>
            <a:pPr algn="l">
              <a:lnSpc>
                <a:spcPts val="3242"/>
              </a:lnSpc>
            </a:pPr>
            <a:r>
              <a:rPr lang="en-US" sz="2494" b="true">
                <a:solidFill>
                  <a:srgbClr val="27577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   dist[temp-&gt;dest] = dist[u] + temp-&gt;weight;</a:t>
            </a:r>
          </a:p>
          <a:p>
            <a:pPr algn="l">
              <a:lnSpc>
                <a:spcPts val="3242"/>
              </a:lnSpc>
            </a:pPr>
          </a:p>
          <a:p>
            <a:pPr algn="l">
              <a:lnSpc>
                <a:spcPts val="3242"/>
              </a:lnSpc>
            </a:pPr>
            <a:r>
              <a:rPr lang="en-US" sz="2494" b="true">
                <a:solidFill>
                  <a:srgbClr val="27577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Advantages:</a:t>
            </a:r>
          </a:p>
          <a:p>
            <a:pPr algn="l">
              <a:lnSpc>
                <a:spcPts val="3242"/>
              </a:lnSpc>
            </a:pPr>
            <a:r>
              <a:rPr lang="en-US" sz="2494" b="true">
                <a:solidFill>
                  <a:srgbClr val="27577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Efficient for real-time routing</a:t>
            </a:r>
          </a:p>
          <a:p>
            <a:pPr algn="l">
              <a:lnSpc>
                <a:spcPts val="3242"/>
              </a:lnSpc>
            </a:pPr>
            <a:r>
              <a:rPr lang="en-US" sz="2494" b="true">
                <a:solidFill>
                  <a:srgbClr val="27577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Helps reduce delivery time and cost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-1431127">
            <a:off x="10242517" y="-36897"/>
            <a:ext cx="1053138" cy="1045478"/>
          </a:xfrm>
          <a:custGeom>
            <a:avLst/>
            <a:gdLst/>
            <a:ahLst/>
            <a:cxnLst/>
            <a:rect r="r" b="b" t="t" l="l"/>
            <a:pathLst>
              <a:path h="1045478" w="1053138">
                <a:moveTo>
                  <a:pt x="0" y="0"/>
                </a:moveTo>
                <a:lnTo>
                  <a:pt x="1053137" y="0"/>
                </a:lnTo>
                <a:lnTo>
                  <a:pt x="1053137" y="1045479"/>
                </a:lnTo>
                <a:lnTo>
                  <a:pt x="0" y="104547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-596868">
            <a:off x="729191" y="9645765"/>
            <a:ext cx="2173829" cy="2158020"/>
          </a:xfrm>
          <a:custGeom>
            <a:avLst/>
            <a:gdLst/>
            <a:ahLst/>
            <a:cxnLst/>
            <a:rect r="r" b="b" t="t" l="l"/>
            <a:pathLst>
              <a:path h="2158020" w="2173829">
                <a:moveTo>
                  <a:pt x="0" y="0"/>
                </a:moveTo>
                <a:lnTo>
                  <a:pt x="2173829" y="0"/>
                </a:lnTo>
                <a:lnTo>
                  <a:pt x="2173829" y="2158019"/>
                </a:lnTo>
                <a:lnTo>
                  <a:pt x="0" y="215801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559132" y="613844"/>
            <a:ext cx="752006" cy="3986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97"/>
              </a:lnSpc>
              <a:spcBef>
                <a:spcPct val="0"/>
              </a:spcBef>
            </a:pPr>
            <a:r>
              <a:rPr lang="en-US" sz="2355" i="true">
                <a:solidFill>
                  <a:srgbClr val="FFFFFF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694352" y="-1694352"/>
            <a:ext cx="3980781" cy="3980781"/>
            <a:chOff x="0" y="0"/>
            <a:chExt cx="5307708" cy="530770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307708" cy="5307708"/>
            </a:xfrm>
            <a:custGeom>
              <a:avLst/>
              <a:gdLst/>
              <a:ahLst/>
              <a:cxnLst/>
              <a:rect r="r" b="b" t="t" l="l"/>
              <a:pathLst>
                <a:path h="5307708" w="5307708">
                  <a:moveTo>
                    <a:pt x="0" y="0"/>
                  </a:moveTo>
                  <a:lnTo>
                    <a:pt x="5307708" y="0"/>
                  </a:lnTo>
                  <a:lnTo>
                    <a:pt x="5307708" y="5307708"/>
                  </a:lnTo>
                  <a:lnTo>
                    <a:pt x="0" y="53077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4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4" id="4"/>
            <p:cNvGrpSpPr/>
            <p:nvPr/>
          </p:nvGrpSpPr>
          <p:grpSpPr>
            <a:xfrm rot="0">
              <a:off x="757795" y="757795"/>
              <a:ext cx="3792117" cy="3792117"/>
              <a:chOff x="0" y="0"/>
              <a:chExt cx="812800" cy="81280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5E13"/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586"/>
                  </a:lnSpc>
                </a:pPr>
              </a:p>
            </p:txBody>
          </p:sp>
        </p:grpSp>
      </p:grpSp>
      <p:grpSp>
        <p:nvGrpSpPr>
          <p:cNvPr name="Group 7" id="7"/>
          <p:cNvGrpSpPr/>
          <p:nvPr/>
        </p:nvGrpSpPr>
        <p:grpSpPr>
          <a:xfrm rot="0">
            <a:off x="10436896" y="1028700"/>
            <a:ext cx="6822404" cy="2534418"/>
            <a:chOff x="0" y="0"/>
            <a:chExt cx="1993366" cy="74050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993366" cy="740505"/>
            </a:xfrm>
            <a:custGeom>
              <a:avLst/>
              <a:gdLst/>
              <a:ahLst/>
              <a:cxnLst/>
              <a:rect r="r" b="b" t="t" l="l"/>
              <a:pathLst>
                <a:path h="740505" w="1993366">
                  <a:moveTo>
                    <a:pt x="0" y="0"/>
                  </a:moveTo>
                  <a:lnTo>
                    <a:pt x="1993366" y="0"/>
                  </a:lnTo>
                  <a:lnTo>
                    <a:pt x="1993366" y="740505"/>
                  </a:lnTo>
                  <a:lnTo>
                    <a:pt x="0" y="740505"/>
                  </a:lnTo>
                  <a:close/>
                </a:path>
              </a:pathLst>
            </a:custGeom>
            <a:blipFill>
              <a:blip r:embed="rId4"/>
              <a:stretch>
                <a:fillRect l="0" t="-39758" r="0" b="-39758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0436896" y="3876291"/>
            <a:ext cx="6822404" cy="2534418"/>
            <a:chOff x="0" y="0"/>
            <a:chExt cx="1993366" cy="74050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93366" cy="740505"/>
            </a:xfrm>
            <a:custGeom>
              <a:avLst/>
              <a:gdLst/>
              <a:ahLst/>
              <a:cxnLst/>
              <a:rect r="r" b="b" t="t" l="l"/>
              <a:pathLst>
                <a:path h="740505" w="1993366">
                  <a:moveTo>
                    <a:pt x="0" y="0"/>
                  </a:moveTo>
                  <a:lnTo>
                    <a:pt x="1993366" y="0"/>
                  </a:lnTo>
                  <a:lnTo>
                    <a:pt x="1993366" y="740505"/>
                  </a:lnTo>
                  <a:lnTo>
                    <a:pt x="0" y="740505"/>
                  </a:lnTo>
                  <a:close/>
                </a:path>
              </a:pathLst>
            </a:custGeom>
            <a:blipFill>
              <a:blip r:embed="rId5"/>
              <a:stretch>
                <a:fillRect l="0" t="-37823" r="0" b="-37823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0436896" y="6723882"/>
            <a:ext cx="6822404" cy="2534418"/>
            <a:chOff x="0" y="0"/>
            <a:chExt cx="1993366" cy="74050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993366" cy="740505"/>
            </a:xfrm>
            <a:custGeom>
              <a:avLst/>
              <a:gdLst/>
              <a:ahLst/>
              <a:cxnLst/>
              <a:rect r="r" b="b" t="t" l="l"/>
              <a:pathLst>
                <a:path h="740505" w="1993366">
                  <a:moveTo>
                    <a:pt x="0" y="0"/>
                  </a:moveTo>
                  <a:lnTo>
                    <a:pt x="1993366" y="0"/>
                  </a:lnTo>
                  <a:lnTo>
                    <a:pt x="1993366" y="740505"/>
                  </a:lnTo>
                  <a:lnTo>
                    <a:pt x="0" y="740505"/>
                  </a:lnTo>
                  <a:close/>
                </a:path>
              </a:pathLst>
            </a:custGeom>
            <a:solidFill>
              <a:srgbClr val="FF5E13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0436896" y="6723882"/>
            <a:ext cx="6822404" cy="2534418"/>
            <a:chOff x="0" y="0"/>
            <a:chExt cx="1993366" cy="74050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993366" cy="740505"/>
            </a:xfrm>
            <a:custGeom>
              <a:avLst/>
              <a:gdLst/>
              <a:ahLst/>
              <a:cxnLst/>
              <a:rect r="r" b="b" t="t" l="l"/>
              <a:pathLst>
                <a:path h="740505" w="1993366">
                  <a:moveTo>
                    <a:pt x="0" y="0"/>
                  </a:moveTo>
                  <a:lnTo>
                    <a:pt x="1993366" y="0"/>
                  </a:lnTo>
                  <a:lnTo>
                    <a:pt x="1993366" y="740505"/>
                  </a:lnTo>
                  <a:lnTo>
                    <a:pt x="0" y="740505"/>
                  </a:lnTo>
                  <a:close/>
                </a:path>
              </a:pathLst>
            </a:custGeom>
            <a:blipFill>
              <a:blip r:embed="rId6">
                <a:alphaModFix amt="64000"/>
              </a:blip>
              <a:stretch>
                <a:fillRect l="0" t="-39169" r="0" b="-39169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0436896" y="1028700"/>
            <a:ext cx="1472195" cy="2534418"/>
            <a:chOff x="0" y="0"/>
            <a:chExt cx="387739" cy="66750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87738" cy="667501"/>
            </a:xfrm>
            <a:custGeom>
              <a:avLst/>
              <a:gdLst/>
              <a:ahLst/>
              <a:cxnLst/>
              <a:rect r="r" b="b" t="t" l="l"/>
              <a:pathLst>
                <a:path h="667501" w="387738">
                  <a:moveTo>
                    <a:pt x="0" y="0"/>
                  </a:moveTo>
                  <a:lnTo>
                    <a:pt x="387738" y="0"/>
                  </a:lnTo>
                  <a:lnTo>
                    <a:pt x="387738" y="667501"/>
                  </a:lnTo>
                  <a:lnTo>
                    <a:pt x="0" y="667501"/>
                  </a:lnTo>
                  <a:close/>
                </a:path>
              </a:pathLst>
            </a:custGeom>
            <a:solidFill>
              <a:srgbClr val="FF5E13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387739" cy="7151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86"/>
                </a:lnSpc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-8235746">
            <a:off x="9835126" y="-415848"/>
            <a:ext cx="1203541" cy="1194788"/>
          </a:xfrm>
          <a:custGeom>
            <a:avLst/>
            <a:gdLst/>
            <a:ahLst/>
            <a:cxnLst/>
            <a:rect r="r" b="b" t="t" l="l"/>
            <a:pathLst>
              <a:path h="1194788" w="1203541">
                <a:moveTo>
                  <a:pt x="0" y="0"/>
                </a:moveTo>
                <a:lnTo>
                  <a:pt x="1203541" y="0"/>
                </a:lnTo>
                <a:lnTo>
                  <a:pt x="1203541" y="1194788"/>
                </a:lnTo>
                <a:lnTo>
                  <a:pt x="0" y="119478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-1431127">
            <a:off x="7314719" y="9607700"/>
            <a:ext cx="2186545" cy="2170643"/>
          </a:xfrm>
          <a:custGeom>
            <a:avLst/>
            <a:gdLst/>
            <a:ahLst/>
            <a:cxnLst/>
            <a:rect r="r" b="b" t="t" l="l"/>
            <a:pathLst>
              <a:path h="2170643" w="2186545">
                <a:moveTo>
                  <a:pt x="0" y="0"/>
                </a:moveTo>
                <a:lnTo>
                  <a:pt x="2186545" y="0"/>
                </a:lnTo>
                <a:lnTo>
                  <a:pt x="2186545" y="2170643"/>
                </a:lnTo>
                <a:lnTo>
                  <a:pt x="0" y="217064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352894" y="506218"/>
            <a:ext cx="752006" cy="3986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97"/>
              </a:lnSpc>
              <a:spcBef>
                <a:spcPct val="0"/>
              </a:spcBef>
            </a:pPr>
            <a:r>
              <a:rPr lang="en-US" sz="2355" i="true">
                <a:solidFill>
                  <a:srgbClr val="FFFFFF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06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458137" y="1108875"/>
            <a:ext cx="7533463" cy="10532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50"/>
              </a:lnSpc>
            </a:pPr>
            <a:r>
              <a:rPr lang="en-US" sz="7076">
                <a:solidFill>
                  <a:srgbClr val="FF5E13"/>
                </a:solidFill>
                <a:latin typeface="Anton"/>
                <a:ea typeface="Anton"/>
                <a:cs typeface="Anton"/>
                <a:sym typeface="Anton"/>
              </a:rPr>
              <a:t>System workflow: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728897" y="2440530"/>
            <a:ext cx="9313240" cy="59337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61"/>
              </a:lnSpc>
            </a:pPr>
            <a:r>
              <a:rPr lang="en-US" sz="2278" b="true">
                <a:solidFill>
                  <a:srgbClr val="27577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Step-by-Step Working:</a:t>
            </a:r>
          </a:p>
          <a:p>
            <a:pPr algn="l">
              <a:lnSpc>
                <a:spcPts val="2961"/>
              </a:lnSpc>
            </a:pPr>
            <a:r>
              <a:rPr lang="en-US" sz="2278">
                <a:solidFill>
                  <a:srgbClr val="27577D"/>
                </a:solidFill>
                <a:latin typeface="Montserrat"/>
                <a:ea typeface="Montserrat"/>
                <a:cs typeface="Montserrat"/>
                <a:sym typeface="Montserrat"/>
              </a:rPr>
              <a:t>1.</a:t>
            </a:r>
            <a:r>
              <a:rPr lang="en-US" sz="2278" b="true">
                <a:solidFill>
                  <a:srgbClr val="27577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User selects an option (Add Location / Route / Shortest Path)</a:t>
            </a:r>
          </a:p>
          <a:p>
            <a:pPr algn="l">
              <a:lnSpc>
                <a:spcPts val="2961"/>
              </a:lnSpc>
            </a:pPr>
            <a:r>
              <a:rPr lang="en-US" sz="2278">
                <a:solidFill>
                  <a:srgbClr val="27577D"/>
                </a:solidFill>
                <a:latin typeface="Montserrat"/>
                <a:ea typeface="Montserrat"/>
                <a:cs typeface="Montserrat"/>
                <a:sym typeface="Montserrat"/>
              </a:rPr>
              <a:t>2.S</a:t>
            </a:r>
            <a:r>
              <a:rPr lang="en-US" sz="2278" b="true">
                <a:solidFill>
                  <a:srgbClr val="27577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ystem stores data in Graph (Adjacency List)</a:t>
            </a:r>
          </a:p>
          <a:p>
            <a:pPr algn="l">
              <a:lnSpc>
                <a:spcPts val="2961"/>
              </a:lnSpc>
            </a:pPr>
            <a:r>
              <a:rPr lang="en-US" sz="2278">
                <a:solidFill>
                  <a:srgbClr val="27577D"/>
                </a:solidFill>
                <a:latin typeface="Montserrat"/>
                <a:ea typeface="Montserrat"/>
                <a:cs typeface="Montserrat"/>
                <a:sym typeface="Montserrat"/>
              </a:rPr>
              <a:t>3.</a:t>
            </a:r>
            <a:r>
              <a:rPr lang="en-US" sz="2278" b="true">
                <a:solidFill>
                  <a:srgbClr val="27577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When route is added → nodes are connected</a:t>
            </a:r>
          </a:p>
          <a:p>
            <a:pPr algn="l">
              <a:lnSpc>
                <a:spcPts val="2961"/>
              </a:lnSpc>
            </a:pPr>
            <a:r>
              <a:rPr lang="en-US" sz="2278">
                <a:solidFill>
                  <a:srgbClr val="27577D"/>
                </a:solidFill>
                <a:latin typeface="Montserrat"/>
                <a:ea typeface="Montserrat"/>
                <a:cs typeface="Montserrat"/>
                <a:sym typeface="Montserrat"/>
              </a:rPr>
              <a:t>4.</a:t>
            </a:r>
            <a:r>
              <a:rPr lang="en-US" sz="2278" b="true">
                <a:solidFill>
                  <a:srgbClr val="27577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When shortest path is requested:</a:t>
            </a:r>
          </a:p>
          <a:p>
            <a:pPr algn="l">
              <a:lnSpc>
                <a:spcPts val="2961"/>
              </a:lnSpc>
            </a:pPr>
            <a:r>
              <a:rPr lang="en-US" sz="2278">
                <a:solidFill>
                  <a:srgbClr val="27577D"/>
                </a:solidFill>
                <a:latin typeface="Montserrat"/>
                <a:ea typeface="Montserrat"/>
                <a:cs typeface="Montserrat"/>
                <a:sym typeface="Montserrat"/>
              </a:rPr>
              <a:t>         </a:t>
            </a:r>
            <a:r>
              <a:rPr lang="en-US" sz="2278" b="true">
                <a:solidFill>
                  <a:srgbClr val="27577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Dijkstra Algorithm is executed</a:t>
            </a:r>
          </a:p>
          <a:p>
            <a:pPr algn="l">
              <a:lnSpc>
                <a:spcPts val="2961"/>
              </a:lnSpc>
            </a:pPr>
            <a:r>
              <a:rPr lang="en-US" sz="2278">
                <a:solidFill>
                  <a:srgbClr val="27577D"/>
                </a:solidFill>
                <a:latin typeface="Montserrat"/>
                <a:ea typeface="Montserrat"/>
                <a:cs typeface="Montserrat"/>
                <a:sym typeface="Montserrat"/>
              </a:rPr>
              <a:t>5.</a:t>
            </a:r>
            <a:r>
              <a:rPr lang="en-US" sz="2278" b="true">
                <a:solidFill>
                  <a:srgbClr val="27577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System calculates minimum distance</a:t>
            </a:r>
          </a:p>
          <a:p>
            <a:pPr algn="l">
              <a:lnSpc>
                <a:spcPts val="2961"/>
              </a:lnSpc>
            </a:pPr>
            <a:r>
              <a:rPr lang="en-US" sz="2278">
                <a:solidFill>
                  <a:srgbClr val="27577D"/>
                </a:solidFill>
                <a:latin typeface="Montserrat"/>
                <a:ea typeface="Montserrat"/>
                <a:cs typeface="Montserrat"/>
                <a:sym typeface="Montserrat"/>
              </a:rPr>
              <a:t>6.</a:t>
            </a:r>
            <a:r>
              <a:rPr lang="en-US" sz="2278" b="true">
                <a:solidFill>
                  <a:srgbClr val="27577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Output is displayed to user</a:t>
            </a:r>
          </a:p>
          <a:p>
            <a:pPr algn="l">
              <a:lnSpc>
                <a:spcPts val="2961"/>
              </a:lnSpc>
            </a:pPr>
          </a:p>
          <a:p>
            <a:pPr algn="l">
              <a:lnSpc>
                <a:spcPts val="2961"/>
              </a:lnSpc>
            </a:pPr>
            <a:r>
              <a:rPr lang="en-US" sz="2278" b="true">
                <a:solidFill>
                  <a:srgbClr val="27577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</a:t>
            </a:r>
            <a:r>
              <a:rPr lang="en-US" sz="2278" b="true">
                <a:solidFill>
                  <a:srgbClr val="27577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low Summary:</a:t>
            </a:r>
          </a:p>
          <a:p>
            <a:pPr algn="l">
              <a:lnSpc>
                <a:spcPts val="2961"/>
              </a:lnSpc>
            </a:pPr>
            <a:r>
              <a:rPr lang="en-US" sz="2278" b="true">
                <a:solidFill>
                  <a:srgbClr val="27577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Input → Graph Processing → Algorithm → Output</a:t>
            </a:r>
          </a:p>
          <a:p>
            <a:pPr algn="l">
              <a:lnSpc>
                <a:spcPts val="2961"/>
              </a:lnSpc>
            </a:pPr>
          </a:p>
          <a:p>
            <a:pPr algn="l">
              <a:lnSpc>
                <a:spcPts val="2961"/>
              </a:lnSpc>
            </a:pPr>
            <a:r>
              <a:rPr lang="en-US" sz="2278" b="true">
                <a:solidFill>
                  <a:srgbClr val="27577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Example:</a:t>
            </a:r>
          </a:p>
          <a:p>
            <a:pPr algn="l">
              <a:lnSpc>
                <a:spcPts val="2961"/>
              </a:lnSpc>
            </a:pPr>
            <a:r>
              <a:rPr lang="en-US" sz="2278" b="true">
                <a:solidFill>
                  <a:srgbClr val="27577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 → B = 10 km</a:t>
            </a:r>
          </a:p>
          <a:p>
            <a:pPr algn="l">
              <a:lnSpc>
                <a:spcPts val="2961"/>
              </a:lnSpc>
            </a:pPr>
            <a:r>
              <a:rPr lang="en-US" sz="2278" b="true">
                <a:solidFill>
                  <a:srgbClr val="27577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B → C = 5 km</a:t>
            </a:r>
          </a:p>
          <a:p>
            <a:pPr algn="l">
              <a:lnSpc>
                <a:spcPts val="2961"/>
              </a:lnSpc>
            </a:pPr>
            <a:r>
              <a:rPr lang="en-US" sz="2278" b="true">
                <a:solidFill>
                  <a:srgbClr val="27577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Shortest path A → C = 15 km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694352" y="-1694352"/>
            <a:ext cx="3980781" cy="3980781"/>
            <a:chOff x="0" y="0"/>
            <a:chExt cx="5307708" cy="530770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307708" cy="5307708"/>
            </a:xfrm>
            <a:custGeom>
              <a:avLst/>
              <a:gdLst/>
              <a:ahLst/>
              <a:cxnLst/>
              <a:rect r="r" b="b" t="t" l="l"/>
              <a:pathLst>
                <a:path h="5307708" w="5307708">
                  <a:moveTo>
                    <a:pt x="0" y="0"/>
                  </a:moveTo>
                  <a:lnTo>
                    <a:pt x="5307708" y="0"/>
                  </a:lnTo>
                  <a:lnTo>
                    <a:pt x="5307708" y="5307708"/>
                  </a:lnTo>
                  <a:lnTo>
                    <a:pt x="0" y="53077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4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4" id="4"/>
            <p:cNvGrpSpPr/>
            <p:nvPr/>
          </p:nvGrpSpPr>
          <p:grpSpPr>
            <a:xfrm rot="0">
              <a:off x="757795" y="757795"/>
              <a:ext cx="3792117" cy="3792117"/>
              <a:chOff x="0" y="0"/>
              <a:chExt cx="812800" cy="81280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5E13"/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586"/>
                  </a:lnSpc>
                </a:pPr>
              </a:p>
            </p:txBody>
          </p:sp>
        </p:grpSp>
      </p:grpSp>
      <p:grpSp>
        <p:nvGrpSpPr>
          <p:cNvPr name="Group 7" id="7"/>
          <p:cNvGrpSpPr/>
          <p:nvPr/>
        </p:nvGrpSpPr>
        <p:grpSpPr>
          <a:xfrm rot="0">
            <a:off x="9398023" y="553843"/>
            <a:ext cx="8889977" cy="4851610"/>
            <a:chOff x="0" y="0"/>
            <a:chExt cx="2597469" cy="141754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597469" cy="1417541"/>
            </a:xfrm>
            <a:custGeom>
              <a:avLst/>
              <a:gdLst/>
              <a:ahLst/>
              <a:cxnLst/>
              <a:rect r="r" b="b" t="t" l="l"/>
              <a:pathLst>
                <a:path h="1417541" w="2597469">
                  <a:moveTo>
                    <a:pt x="0" y="0"/>
                  </a:moveTo>
                  <a:lnTo>
                    <a:pt x="2597469" y="0"/>
                  </a:lnTo>
                  <a:lnTo>
                    <a:pt x="2597469" y="1417541"/>
                  </a:lnTo>
                  <a:lnTo>
                    <a:pt x="0" y="1417541"/>
                  </a:lnTo>
                  <a:close/>
                </a:path>
              </a:pathLst>
            </a:custGeom>
            <a:blipFill>
              <a:blip r:embed="rId4"/>
              <a:stretch>
                <a:fillRect l="0" t="-22158" r="0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9398023" y="5435390"/>
            <a:ext cx="8889977" cy="4851610"/>
            <a:chOff x="0" y="0"/>
            <a:chExt cx="2597469" cy="141754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597469" cy="1417541"/>
            </a:xfrm>
            <a:custGeom>
              <a:avLst/>
              <a:gdLst/>
              <a:ahLst/>
              <a:cxnLst/>
              <a:rect r="r" b="b" t="t" l="l"/>
              <a:pathLst>
                <a:path h="1417541" w="2597469">
                  <a:moveTo>
                    <a:pt x="0" y="0"/>
                  </a:moveTo>
                  <a:lnTo>
                    <a:pt x="2597469" y="0"/>
                  </a:lnTo>
                  <a:lnTo>
                    <a:pt x="2597469" y="1417541"/>
                  </a:lnTo>
                  <a:lnTo>
                    <a:pt x="0" y="1417541"/>
                  </a:lnTo>
                  <a:close/>
                </a:path>
              </a:pathLst>
            </a:custGeom>
            <a:blipFill>
              <a:blip r:embed="rId5"/>
              <a:stretch>
                <a:fillRect l="0" t="-22311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-135638" y="9258300"/>
            <a:ext cx="18559277" cy="1204904"/>
            <a:chOff x="0" y="0"/>
            <a:chExt cx="4888040" cy="31734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888040" cy="317341"/>
            </a:xfrm>
            <a:custGeom>
              <a:avLst/>
              <a:gdLst/>
              <a:ahLst/>
              <a:cxnLst/>
              <a:rect r="r" b="b" t="t" l="l"/>
              <a:pathLst>
                <a:path h="317341" w="4888040">
                  <a:moveTo>
                    <a:pt x="0" y="0"/>
                  </a:moveTo>
                  <a:lnTo>
                    <a:pt x="4888040" y="0"/>
                  </a:lnTo>
                  <a:lnTo>
                    <a:pt x="4888040" y="317341"/>
                  </a:lnTo>
                  <a:lnTo>
                    <a:pt x="0" y="317341"/>
                  </a:lnTo>
                  <a:close/>
                </a:path>
              </a:pathLst>
            </a:custGeom>
            <a:solidFill>
              <a:srgbClr val="FF5E13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4888040" cy="3649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86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-1431127">
            <a:off x="7544242" y="-1491343"/>
            <a:ext cx="2186545" cy="2170643"/>
          </a:xfrm>
          <a:custGeom>
            <a:avLst/>
            <a:gdLst/>
            <a:ahLst/>
            <a:cxnLst/>
            <a:rect r="r" b="b" t="t" l="l"/>
            <a:pathLst>
              <a:path h="2170643" w="2186545">
                <a:moveTo>
                  <a:pt x="0" y="0"/>
                </a:moveTo>
                <a:lnTo>
                  <a:pt x="2186546" y="0"/>
                </a:lnTo>
                <a:lnTo>
                  <a:pt x="2186546" y="2170643"/>
                </a:lnTo>
                <a:lnTo>
                  <a:pt x="0" y="217064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352894" y="506218"/>
            <a:ext cx="752006" cy="3986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97"/>
              </a:lnSpc>
              <a:spcBef>
                <a:spcPct val="0"/>
              </a:spcBef>
            </a:pPr>
            <a:r>
              <a:rPr lang="en-US" sz="2355" i="true">
                <a:solidFill>
                  <a:srgbClr val="FFFFFF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07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96038" y="1882086"/>
            <a:ext cx="7807666" cy="5377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61"/>
              </a:lnSpc>
            </a:pPr>
            <a:r>
              <a:rPr lang="en-US" sz="3611">
                <a:solidFill>
                  <a:srgbClr val="FF5E13"/>
                </a:solidFill>
                <a:latin typeface="Anton"/>
                <a:ea typeface="Anton"/>
                <a:cs typeface="Anton"/>
                <a:sym typeface="Anton"/>
              </a:rPr>
              <a:t>Advantages and real-life examples: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02630" y="2628832"/>
            <a:ext cx="6323173" cy="62489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62"/>
              </a:lnSpc>
            </a:pPr>
            <a:r>
              <a:rPr lang="en-US" sz="2115" b="true">
                <a:solidFill>
                  <a:srgbClr val="27577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Advantages:</a:t>
            </a:r>
          </a:p>
          <a:p>
            <a:pPr algn="ctr">
              <a:lnSpc>
                <a:spcPts val="2962"/>
              </a:lnSpc>
              <a:spcBef>
                <a:spcPct val="0"/>
              </a:spcBef>
            </a:pPr>
            <a:r>
              <a:rPr lang="en-US" sz="2115">
                <a:solidFill>
                  <a:srgbClr val="27577D"/>
                </a:solidFill>
                <a:latin typeface="Montserrat"/>
                <a:ea typeface="Montserrat"/>
                <a:cs typeface="Montserrat"/>
                <a:sym typeface="Montserrat"/>
              </a:rPr>
              <a:t>1.</a:t>
            </a:r>
            <a:r>
              <a:rPr lang="en-US" b="true" sz="2115">
                <a:solidFill>
                  <a:srgbClr val="27577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Fast r</a:t>
            </a:r>
            <a:r>
              <a:rPr lang="en-US" b="true" sz="2115">
                <a:solidFill>
                  <a:srgbClr val="27577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oute calculation</a:t>
            </a:r>
          </a:p>
          <a:p>
            <a:pPr algn="ctr">
              <a:lnSpc>
                <a:spcPts val="2962"/>
              </a:lnSpc>
              <a:spcBef>
                <a:spcPct val="0"/>
              </a:spcBef>
            </a:pPr>
            <a:r>
              <a:rPr lang="en-US" b="true" sz="2115">
                <a:solidFill>
                  <a:srgbClr val="27577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2.Efficient memory usage</a:t>
            </a:r>
          </a:p>
          <a:p>
            <a:pPr algn="ctr">
              <a:lnSpc>
                <a:spcPts val="2962"/>
              </a:lnSpc>
              <a:spcBef>
                <a:spcPct val="0"/>
              </a:spcBef>
            </a:pPr>
            <a:r>
              <a:rPr lang="en-US" b="true" sz="2115">
                <a:solidFill>
                  <a:srgbClr val="27577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3.Handles multiple locations</a:t>
            </a:r>
          </a:p>
          <a:p>
            <a:pPr algn="ctr">
              <a:lnSpc>
                <a:spcPts val="2962"/>
              </a:lnSpc>
              <a:spcBef>
                <a:spcPct val="0"/>
              </a:spcBef>
            </a:pPr>
            <a:r>
              <a:rPr lang="en-US" b="true" sz="2115">
                <a:solidFill>
                  <a:srgbClr val="27577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4.Easy to update routes</a:t>
            </a:r>
          </a:p>
          <a:p>
            <a:pPr algn="ctr">
              <a:lnSpc>
                <a:spcPts val="2962"/>
              </a:lnSpc>
              <a:spcBef>
                <a:spcPct val="0"/>
              </a:spcBef>
            </a:pPr>
          </a:p>
          <a:p>
            <a:pPr algn="ctr">
              <a:lnSpc>
                <a:spcPts val="2962"/>
              </a:lnSpc>
              <a:spcBef>
                <a:spcPct val="0"/>
              </a:spcBef>
            </a:pPr>
            <a:r>
              <a:rPr lang="en-US" b="true" sz="2115">
                <a:solidFill>
                  <a:srgbClr val="27577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Real-Life Example:</a:t>
            </a:r>
          </a:p>
          <a:p>
            <a:pPr algn="ctr">
              <a:lnSpc>
                <a:spcPts val="2962"/>
              </a:lnSpc>
              <a:spcBef>
                <a:spcPct val="0"/>
              </a:spcBef>
            </a:pPr>
            <a:r>
              <a:rPr lang="en-US" b="true" sz="2115">
                <a:solidFill>
                  <a:srgbClr val="27577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Warehouse A</a:t>
            </a:r>
          </a:p>
          <a:p>
            <a:pPr algn="ctr">
              <a:lnSpc>
                <a:spcPts val="2962"/>
              </a:lnSpc>
              <a:spcBef>
                <a:spcPct val="0"/>
              </a:spcBef>
            </a:pPr>
            <a:r>
              <a:rPr lang="en-US" b="true" sz="2115">
                <a:solidFill>
                  <a:srgbClr val="27577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Delivery Point B</a:t>
            </a:r>
          </a:p>
          <a:p>
            <a:pPr algn="ctr">
              <a:lnSpc>
                <a:spcPts val="2962"/>
              </a:lnSpc>
              <a:spcBef>
                <a:spcPct val="0"/>
              </a:spcBef>
            </a:pPr>
            <a:r>
              <a:rPr lang="en-US" b="true" sz="2115">
                <a:solidFill>
                  <a:srgbClr val="27577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Delivery Point C</a:t>
            </a:r>
          </a:p>
          <a:p>
            <a:pPr algn="ctr">
              <a:lnSpc>
                <a:spcPts val="2962"/>
              </a:lnSpc>
              <a:spcBef>
                <a:spcPct val="0"/>
              </a:spcBef>
            </a:pPr>
            <a:r>
              <a:rPr lang="en-US" b="true" sz="2115">
                <a:solidFill>
                  <a:srgbClr val="27577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System finds: 👉 Best route from A → C</a:t>
            </a:r>
          </a:p>
          <a:p>
            <a:pPr algn="ctr">
              <a:lnSpc>
                <a:spcPts val="2962"/>
              </a:lnSpc>
              <a:spcBef>
                <a:spcPct val="0"/>
              </a:spcBef>
            </a:pPr>
            <a:r>
              <a:rPr lang="en-US" b="true" sz="2115">
                <a:solidFill>
                  <a:srgbClr val="27577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👉 Avoids longer paths</a:t>
            </a:r>
          </a:p>
          <a:p>
            <a:pPr algn="ctr">
              <a:lnSpc>
                <a:spcPts val="2962"/>
              </a:lnSpc>
              <a:spcBef>
                <a:spcPct val="0"/>
              </a:spcBef>
            </a:pPr>
          </a:p>
          <a:p>
            <a:pPr algn="ctr">
              <a:lnSpc>
                <a:spcPts val="2962"/>
              </a:lnSpc>
              <a:spcBef>
                <a:spcPct val="0"/>
              </a:spcBef>
            </a:pPr>
            <a:r>
              <a:rPr lang="en-US" b="true" sz="2115">
                <a:solidFill>
                  <a:srgbClr val="27577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Where It Is Used:</a:t>
            </a:r>
          </a:p>
          <a:p>
            <a:pPr algn="ctr">
              <a:lnSpc>
                <a:spcPts val="2962"/>
              </a:lnSpc>
              <a:spcBef>
                <a:spcPct val="0"/>
              </a:spcBef>
            </a:pPr>
            <a:r>
              <a:rPr lang="en-US" b="true" sz="2115">
                <a:solidFill>
                  <a:srgbClr val="27577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1.Amazon delivery systems</a:t>
            </a:r>
          </a:p>
          <a:p>
            <a:pPr algn="ctr">
              <a:lnSpc>
                <a:spcPts val="2962"/>
              </a:lnSpc>
              <a:spcBef>
                <a:spcPct val="0"/>
              </a:spcBef>
            </a:pPr>
            <a:r>
              <a:rPr lang="en-US" b="true" sz="2115">
                <a:solidFill>
                  <a:srgbClr val="27577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2.Swiggy/Zomato routing</a:t>
            </a:r>
          </a:p>
          <a:p>
            <a:pPr algn="ctr">
              <a:lnSpc>
                <a:spcPts val="2962"/>
              </a:lnSpc>
              <a:spcBef>
                <a:spcPct val="0"/>
              </a:spcBef>
            </a:pPr>
            <a:r>
              <a:rPr lang="en-US" b="true" sz="2115">
                <a:solidFill>
                  <a:srgbClr val="27577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3.Google Maps navigation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4" t="0" r="-7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694352" y="-1694352"/>
            <a:ext cx="3980781" cy="3980781"/>
            <a:chOff x="0" y="0"/>
            <a:chExt cx="5307708" cy="530770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307708" cy="5307708"/>
            </a:xfrm>
            <a:custGeom>
              <a:avLst/>
              <a:gdLst/>
              <a:ahLst/>
              <a:cxnLst/>
              <a:rect r="r" b="b" t="t" l="l"/>
              <a:pathLst>
                <a:path h="5307708" w="5307708">
                  <a:moveTo>
                    <a:pt x="0" y="0"/>
                  </a:moveTo>
                  <a:lnTo>
                    <a:pt x="5307708" y="0"/>
                  </a:lnTo>
                  <a:lnTo>
                    <a:pt x="5307708" y="5307708"/>
                  </a:lnTo>
                  <a:lnTo>
                    <a:pt x="0" y="53077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24000"/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5" id="5"/>
            <p:cNvGrpSpPr/>
            <p:nvPr/>
          </p:nvGrpSpPr>
          <p:grpSpPr>
            <a:xfrm rot="0">
              <a:off x="757795" y="757795"/>
              <a:ext cx="3792117" cy="3792117"/>
              <a:chOff x="0" y="0"/>
              <a:chExt cx="812800" cy="81280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5E13"/>
              </a:soli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586"/>
                  </a:lnSpc>
                </a:pPr>
              </a:p>
            </p:txBody>
          </p:sp>
        </p:grpSp>
      </p:grpSp>
      <p:grpSp>
        <p:nvGrpSpPr>
          <p:cNvPr name="Group 8" id="8"/>
          <p:cNvGrpSpPr/>
          <p:nvPr/>
        </p:nvGrpSpPr>
        <p:grpSpPr>
          <a:xfrm rot="0">
            <a:off x="7240571" y="0"/>
            <a:ext cx="11347486" cy="10287000"/>
            <a:chOff x="0" y="0"/>
            <a:chExt cx="2988638" cy="270933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988638" cy="2709333"/>
            </a:xfrm>
            <a:custGeom>
              <a:avLst/>
              <a:gdLst/>
              <a:ahLst/>
              <a:cxnLst/>
              <a:rect r="r" b="b" t="t" l="l"/>
              <a:pathLst>
                <a:path h="2709333" w="2988638">
                  <a:moveTo>
                    <a:pt x="0" y="0"/>
                  </a:moveTo>
                  <a:lnTo>
                    <a:pt x="2988638" y="0"/>
                  </a:lnTo>
                  <a:lnTo>
                    <a:pt x="298863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F5E13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2988638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86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-596868">
            <a:off x="15425426" y="-1300863"/>
            <a:ext cx="2173829" cy="2158020"/>
          </a:xfrm>
          <a:custGeom>
            <a:avLst/>
            <a:gdLst/>
            <a:ahLst/>
            <a:cxnLst/>
            <a:rect r="r" b="b" t="t" l="l"/>
            <a:pathLst>
              <a:path h="2158020" w="2173829">
                <a:moveTo>
                  <a:pt x="0" y="0"/>
                </a:moveTo>
                <a:lnTo>
                  <a:pt x="2173829" y="0"/>
                </a:lnTo>
                <a:lnTo>
                  <a:pt x="2173829" y="2158020"/>
                </a:lnTo>
                <a:lnTo>
                  <a:pt x="0" y="215802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-596868">
            <a:off x="6800112" y="9207990"/>
            <a:ext cx="2173829" cy="2158020"/>
          </a:xfrm>
          <a:custGeom>
            <a:avLst/>
            <a:gdLst/>
            <a:ahLst/>
            <a:cxnLst/>
            <a:rect r="r" b="b" t="t" l="l"/>
            <a:pathLst>
              <a:path h="2158020" w="2173829">
                <a:moveTo>
                  <a:pt x="0" y="0"/>
                </a:moveTo>
                <a:lnTo>
                  <a:pt x="2173829" y="0"/>
                </a:lnTo>
                <a:lnTo>
                  <a:pt x="2173829" y="2158020"/>
                </a:lnTo>
                <a:lnTo>
                  <a:pt x="0" y="215802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352894" y="506218"/>
            <a:ext cx="752006" cy="3986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97"/>
              </a:lnSpc>
              <a:spcBef>
                <a:spcPct val="0"/>
              </a:spcBef>
            </a:pPr>
            <a:r>
              <a:rPr lang="en-US" sz="2355" i="true">
                <a:solidFill>
                  <a:srgbClr val="FFFFFF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09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004144" y="1322906"/>
            <a:ext cx="8917360" cy="5715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50"/>
              </a:lnSpc>
            </a:pPr>
            <a:r>
              <a:rPr lang="en-US" sz="3771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Applications and conclusions: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004353" y="2043815"/>
            <a:ext cx="9358257" cy="7602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62"/>
              </a:lnSpc>
            </a:pPr>
            <a:r>
              <a:rPr lang="en-US" sz="2187" b="true">
                <a:solidFill>
                  <a:srgbClr val="27577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Applications:</a:t>
            </a:r>
          </a:p>
          <a:p>
            <a:pPr algn="ctr">
              <a:lnSpc>
                <a:spcPts val="3062"/>
              </a:lnSpc>
            </a:pPr>
            <a:r>
              <a:rPr lang="en-US" sz="2187" b="true">
                <a:solidFill>
                  <a:srgbClr val="27577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Courier delivery systems</a:t>
            </a:r>
          </a:p>
          <a:p>
            <a:pPr algn="ctr">
              <a:lnSpc>
                <a:spcPts val="3062"/>
              </a:lnSpc>
            </a:pPr>
            <a:r>
              <a:rPr lang="en-US" sz="2187" b="true">
                <a:solidFill>
                  <a:srgbClr val="27577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Food delivery apps</a:t>
            </a:r>
          </a:p>
          <a:p>
            <a:pPr algn="ctr">
              <a:lnSpc>
                <a:spcPts val="3062"/>
              </a:lnSpc>
            </a:pPr>
            <a:r>
              <a:rPr lang="en-US" sz="2187" b="true">
                <a:solidFill>
                  <a:srgbClr val="27577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Ride-sharing apps</a:t>
            </a:r>
          </a:p>
          <a:p>
            <a:pPr algn="ctr">
              <a:lnSpc>
                <a:spcPts val="3062"/>
              </a:lnSpc>
            </a:pPr>
            <a:r>
              <a:rPr lang="en-US" sz="2187" b="true">
                <a:solidFill>
                  <a:srgbClr val="27577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Supply chain management</a:t>
            </a:r>
          </a:p>
          <a:p>
            <a:pPr algn="ctr">
              <a:lnSpc>
                <a:spcPts val="3062"/>
              </a:lnSpc>
            </a:pPr>
          </a:p>
          <a:p>
            <a:pPr algn="ctr">
              <a:lnSpc>
                <a:spcPts val="3062"/>
              </a:lnSpc>
            </a:pPr>
            <a:r>
              <a:rPr lang="en-US" sz="2187" b="true">
                <a:solidFill>
                  <a:srgbClr val="27577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Advantages of This System:</a:t>
            </a:r>
          </a:p>
          <a:p>
            <a:pPr algn="ctr">
              <a:lnSpc>
                <a:spcPts val="3062"/>
              </a:lnSpc>
            </a:pPr>
            <a:r>
              <a:rPr lang="en-US" sz="2187" b="true">
                <a:solidFill>
                  <a:srgbClr val="27577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Efficient route management</a:t>
            </a:r>
          </a:p>
          <a:p>
            <a:pPr algn="ctr">
              <a:lnSpc>
                <a:spcPts val="3062"/>
              </a:lnSpc>
            </a:pPr>
            <a:r>
              <a:rPr lang="en-US" sz="2187" b="true">
                <a:solidFill>
                  <a:srgbClr val="27577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Dynamic updates</a:t>
            </a:r>
          </a:p>
          <a:p>
            <a:pPr algn="ctr">
              <a:lnSpc>
                <a:spcPts val="3062"/>
              </a:lnSpc>
            </a:pPr>
            <a:r>
              <a:rPr lang="en-US" sz="2187" b="true">
                <a:solidFill>
                  <a:srgbClr val="27577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Scalable for large networks</a:t>
            </a:r>
          </a:p>
          <a:p>
            <a:pPr algn="ctr">
              <a:lnSpc>
                <a:spcPts val="3062"/>
              </a:lnSpc>
            </a:pPr>
          </a:p>
          <a:p>
            <a:pPr algn="ctr">
              <a:lnSpc>
                <a:spcPts val="3062"/>
              </a:lnSpc>
            </a:pPr>
            <a:r>
              <a:rPr lang="en-US" sz="2187" b="true">
                <a:solidFill>
                  <a:srgbClr val="27577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Limitations:</a:t>
            </a:r>
          </a:p>
          <a:p>
            <a:pPr algn="ctr">
              <a:lnSpc>
                <a:spcPts val="3062"/>
              </a:lnSpc>
            </a:pPr>
            <a:r>
              <a:rPr lang="en-US" sz="2187" b="true">
                <a:solidFill>
                  <a:srgbClr val="27577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Does not handle traffic conditions</a:t>
            </a:r>
          </a:p>
          <a:p>
            <a:pPr algn="ctr">
              <a:lnSpc>
                <a:spcPts val="3062"/>
              </a:lnSpc>
            </a:pPr>
            <a:r>
              <a:rPr lang="en-US" sz="2187" b="true">
                <a:solidFill>
                  <a:srgbClr val="27577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No real-time GPS integration</a:t>
            </a:r>
          </a:p>
          <a:p>
            <a:pPr algn="ctr">
              <a:lnSpc>
                <a:spcPts val="3062"/>
              </a:lnSpc>
            </a:pPr>
          </a:p>
          <a:p>
            <a:pPr algn="ctr">
              <a:lnSpc>
                <a:spcPts val="3062"/>
              </a:lnSpc>
            </a:pPr>
            <a:r>
              <a:rPr lang="en-US" sz="2187" b="true">
                <a:solidFill>
                  <a:srgbClr val="27577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Future Enhancements:</a:t>
            </a:r>
          </a:p>
          <a:p>
            <a:pPr algn="ctr">
              <a:lnSpc>
                <a:spcPts val="3062"/>
              </a:lnSpc>
            </a:pPr>
            <a:r>
              <a:rPr lang="en-US" sz="2187" b="true">
                <a:solidFill>
                  <a:srgbClr val="27577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Add GPS tracking</a:t>
            </a:r>
          </a:p>
          <a:p>
            <a:pPr algn="ctr">
              <a:lnSpc>
                <a:spcPts val="3062"/>
              </a:lnSpc>
            </a:pPr>
            <a:r>
              <a:rPr lang="en-US" sz="2187" b="true">
                <a:solidFill>
                  <a:srgbClr val="27577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Real-time traffic updates</a:t>
            </a:r>
          </a:p>
          <a:p>
            <a:pPr algn="ctr">
              <a:lnSpc>
                <a:spcPts val="3062"/>
              </a:lnSpc>
            </a:pPr>
            <a:r>
              <a:rPr lang="en-US" sz="2187" b="true">
                <a:solidFill>
                  <a:srgbClr val="27577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Mobile app integration</a:t>
            </a:r>
          </a:p>
          <a:p>
            <a:pPr algn="ctr">
              <a:lnSpc>
                <a:spcPts val="3062"/>
              </a:lnSpc>
              <a:spcBef>
                <a:spcPct val="0"/>
              </a:spcBef>
            </a:pPr>
            <a:r>
              <a:rPr lang="en-US" b="true" sz="2187">
                <a:solidFill>
                  <a:srgbClr val="27577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Use advanced algorithms (A*, AI-based routing</a:t>
            </a:r>
            <a:r>
              <a:rPr lang="en-US" b="true" sz="2187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)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460288" y="-1020753"/>
            <a:ext cx="12603491" cy="12328506"/>
          </a:xfrm>
          <a:custGeom>
            <a:avLst/>
            <a:gdLst/>
            <a:ahLst/>
            <a:cxnLst/>
            <a:rect r="r" b="b" t="t" l="l"/>
            <a:pathLst>
              <a:path h="12328506" w="12603491">
                <a:moveTo>
                  <a:pt x="0" y="0"/>
                </a:moveTo>
                <a:lnTo>
                  <a:pt x="12603491" y="0"/>
                </a:lnTo>
                <a:lnTo>
                  <a:pt x="12603491" y="12328506"/>
                </a:lnTo>
                <a:lnTo>
                  <a:pt x="0" y="1232850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50219" y="3872575"/>
            <a:ext cx="6382476" cy="18989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5519"/>
              </a:lnSpc>
              <a:spcBef>
                <a:spcPct val="0"/>
              </a:spcBef>
            </a:pPr>
            <a:r>
              <a:rPr lang="en-US" sz="11085">
                <a:solidFill>
                  <a:srgbClr val="FF5E13"/>
                </a:solidFill>
                <a:latin typeface="Anton"/>
                <a:ea typeface="Anton"/>
                <a:cs typeface="Anton"/>
                <a:sym typeface="Anton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DAHHAfpI2TU</dc:identifier>
  <dcterms:modified xsi:type="dcterms:W3CDTF">2011-08-01T06:04:30Z</dcterms:modified>
  <cp:revision>1</cp:revision>
  <dc:title>tic</dc:title>
</cp:coreProperties>
</file>